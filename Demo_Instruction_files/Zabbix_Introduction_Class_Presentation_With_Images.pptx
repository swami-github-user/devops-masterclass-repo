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Zabbix Monitoring</a:t>
            </a:r>
          </a:p>
          <a:p>
            <a:pPr algn="ctr">
              <a:defRPr sz="2300"/>
            </a:pPr>
            <a:r>
              <a:t>Introduction • Architecture • Concepts • Benefits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43200"/>
            <a:ext cx="8503920" cy="28761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Zabbix Introduction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Why Do We Need Monitoring?</a:t>
            </a:r>
          </a:p>
        </p:txBody>
      </p:sp>
      <p:pic>
        <p:nvPicPr>
          <p:cNvPr id="3" name="Picture 2" descr="monitoring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2558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Imagine being responsible for hundreds of servers.</a:t>
            </a:r>
          </a:p>
          <a:p>
            <a:pPr>
              <a:spcAft>
                <a:spcPts val="800"/>
              </a:spcAft>
              <a:defRPr sz="1900"/>
            </a:pPr>
            <a:r>
              <a:t>What if one server runs out of disk space, CPU becomes abnormal, or a service stops?</a:t>
            </a:r>
          </a:p>
          <a:p>
            <a:pPr>
              <a:spcAft>
                <a:spcPts val="800"/>
              </a:spcAft>
              <a:defRPr sz="1900"/>
            </a:pPr>
            <a:r>
              <a:t>Manual checking does not scale.</a:t>
            </a:r>
          </a:p>
          <a:p>
            <a:pPr>
              <a:spcAft>
                <a:spcPts val="800"/>
              </a:spcAft>
              <a:defRPr sz="1900"/>
            </a:pPr>
            <a:r>
              <a:t>Monitoring continuously observes systems and helps teams detect problems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Reactive vs. Proactive Operations</a:t>
            </a:r>
          </a:p>
        </p:txBody>
      </p:sp>
      <p:pic>
        <p:nvPicPr>
          <p:cNvPr id="3" name="Picture 2" descr="monitoring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62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722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Without monitoring: Server fails → customer notices → engineer investigates.</a:t>
            </a:r>
          </a:p>
          <a:p>
            <a:pPr>
              <a:spcAft>
                <a:spcPts val="800"/>
              </a:spcAft>
              <a:defRPr sz="1900"/>
            </a:pPr>
            <a:r>
              <a:t>With monitoring: Metric changes → Zabbix detects condition → problem/alert → engineer investigates.</a:t>
            </a:r>
          </a:p>
          <a:p>
            <a:pPr>
              <a:spcAft>
                <a:spcPts val="800"/>
              </a:spcAft>
              <a:defRPr sz="1900"/>
            </a:pPr>
            <a:r>
              <a:t>Goal: identify important conditions before they become customer-impacting incidents whenever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What Is Zabbix?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17473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Open-source monitoring and observability platform.</a:t>
            </a:r>
          </a:p>
          <a:p>
            <a:pPr>
              <a:spcAft>
                <a:spcPts val="800"/>
              </a:spcAft>
              <a:defRPr sz="1900"/>
            </a:pPr>
            <a:r>
              <a:t>Monitors infrastructure, networks, applications and services.</a:t>
            </a:r>
          </a:p>
          <a:p>
            <a:pPr>
              <a:spcAft>
                <a:spcPts val="800"/>
              </a:spcAft>
              <a:defRPr sz="1900"/>
            </a:pPr>
            <a:r>
              <a:t>Collects CPU, memory, disk, network, availability, response-time and other metrics.</a:t>
            </a:r>
          </a:p>
          <a:p>
            <a:pPr>
              <a:spcAft>
                <a:spcPts val="800"/>
              </a:spcAft>
              <a:defRPr sz="1900"/>
            </a:pPr>
            <a:r>
              <a:t>Processes measurements, evaluates conditions, creates events/problems and presents results.</a:t>
            </a:r>
          </a:p>
          <a:p>
            <a:pPr>
              <a:spcAft>
                <a:spcPts val="800"/>
              </a:spcAft>
              <a:defRPr sz="1900"/>
            </a:pPr>
            <a:r>
              <a:t>Core idea: Collect → Store → Analyze → Detect → Alert → Visualize.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What Can Zabbix Monitor?</a:t>
            </a:r>
          </a:p>
        </p:txBody>
      </p:sp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62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722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Servers and virtual machines</a:t>
            </a:r>
          </a:p>
          <a:p>
            <a:pPr>
              <a:spcAft>
                <a:spcPts val="800"/>
              </a:spcAft>
              <a:defRPr sz="1900"/>
            </a:pPr>
            <a:r>
              <a:t>Cloud infrastructure and workloads</a:t>
            </a:r>
          </a:p>
          <a:p>
            <a:pPr>
              <a:spcAft>
                <a:spcPts val="800"/>
              </a:spcAft>
              <a:defRPr sz="1900"/>
            </a:pPr>
            <a:r>
              <a:t>Network devices and interfaces</a:t>
            </a:r>
          </a:p>
          <a:p>
            <a:pPr>
              <a:spcAft>
                <a:spcPts val="800"/>
              </a:spcAft>
              <a:defRPr sz="1900"/>
            </a:pPr>
            <a:r>
              <a:t>Databases and applications</a:t>
            </a:r>
          </a:p>
          <a:p>
            <a:pPr>
              <a:spcAft>
                <a:spcPts val="800"/>
              </a:spcAft>
              <a:defRPr sz="1900"/>
            </a:pPr>
            <a:r>
              <a:t>Web services and endpoints</a:t>
            </a:r>
          </a:p>
          <a:p>
            <a:pPr>
              <a:spcAft>
                <a:spcPts val="800"/>
              </a:spcAft>
              <a:defRPr sz="1900"/>
            </a:pPr>
            <a:r>
              <a:t>Containers and other infrastructure components</a:t>
            </a:r>
          </a:p>
          <a:p>
            <a:pPr>
              <a:spcAft>
                <a:spcPts val="800"/>
              </a:spcAft>
              <a:defRPr sz="1900"/>
            </a:pPr>
            <a:r>
              <a:t>Operating-system metrics, processes and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Zabbix Is More Than a Dashboard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17473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Monitoring — continuously collect measurements.</a:t>
            </a:r>
          </a:p>
          <a:p>
            <a:pPr>
              <a:spcAft>
                <a:spcPts val="800"/>
              </a:spcAft>
              <a:defRPr sz="1900"/>
            </a:pPr>
            <a:r>
              <a:t>Problem detection — identify conditions requiring attention.</a:t>
            </a:r>
          </a:p>
          <a:p>
            <a:pPr>
              <a:spcAft>
                <a:spcPts val="800"/>
              </a:spcAft>
              <a:defRPr sz="1900"/>
            </a:pPr>
            <a:r>
              <a:t>Event management — track state changes.</a:t>
            </a:r>
          </a:p>
          <a:p>
            <a:pPr>
              <a:spcAft>
                <a:spcPts val="800"/>
              </a:spcAft>
              <a:defRPr sz="1900"/>
            </a:pPr>
            <a:r>
              <a:t>Alerting — notify people or systems when configured conditions occur.</a:t>
            </a:r>
          </a:p>
          <a:p>
            <a:pPr>
              <a:spcAft>
                <a:spcPts val="800"/>
              </a:spcAft>
              <a:defRPr sz="1900"/>
            </a:pPr>
            <a:r>
              <a:t>Visualization — dashboards, graphs and problem views.</a:t>
            </a:r>
          </a:p>
          <a:p>
            <a:pPr>
              <a:spcAft>
                <a:spcPts val="800"/>
              </a:spcAft>
              <a:defRPr sz="1900"/>
            </a:pPr>
            <a:r>
              <a:t>Historical analysis — understand past behavior and trends.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Zabbix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62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722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Browser → Nginx → Zabbix Frontend (PHP)</a:t>
            </a:r>
          </a:p>
          <a:p>
            <a:pPr>
              <a:spcAft>
                <a:spcPts val="800"/>
              </a:spcAft>
              <a:defRPr sz="1700"/>
            </a:pPr>
            <a:r>
              <a:t>Frontend ↔ MySQL database</a:t>
            </a:r>
          </a:p>
          <a:p>
            <a:pPr>
              <a:spcAft>
                <a:spcPts val="800"/>
              </a:spcAft>
              <a:defRPr sz="1700"/>
            </a:pPr>
            <a:r>
              <a:t>Zabbix Server = central monitoring engine</a:t>
            </a:r>
          </a:p>
          <a:p>
            <a:pPr>
              <a:spcAft>
                <a:spcPts val="800"/>
              </a:spcAft>
              <a:defRPr sz="1700"/>
            </a:pPr>
            <a:r>
              <a:t>Zabbix Server ↔ Zabbix Agent 2</a:t>
            </a:r>
          </a:p>
          <a:p>
            <a:pPr>
              <a:spcAft>
                <a:spcPts val="800"/>
              </a:spcAft>
              <a:defRPr sz="1700"/>
            </a:pPr>
            <a:r>
              <a:t>Monitoring path: Agent → Server → Database</a:t>
            </a:r>
          </a:p>
          <a:p>
            <a:pPr>
              <a:spcAft>
                <a:spcPts val="800"/>
              </a:spcAft>
              <a:defRPr sz="1700"/>
            </a:pPr>
            <a:r>
              <a:t>Web path: Browser → Nginx → PHP/Frontend →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The Five Components to Remember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2558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Zabbix Agent 2 — sensor/collector on the monitored machine.</a:t>
            </a:r>
          </a:p>
          <a:p>
            <a:pPr>
              <a:spcAft>
                <a:spcPts val="800"/>
              </a:spcAft>
              <a:defRPr sz="1900"/>
            </a:pPr>
            <a:r>
              <a:t>Zabbix Server — central monitoring engine and decision-maker.</a:t>
            </a:r>
          </a:p>
          <a:p>
            <a:pPr>
              <a:spcAft>
                <a:spcPts val="800"/>
              </a:spcAft>
              <a:defRPr sz="1900"/>
            </a:pPr>
            <a:r>
              <a:t>MySQL — persistent backend storing Zabbix configuration and monitoring data.</a:t>
            </a:r>
          </a:p>
          <a:p>
            <a:pPr>
              <a:spcAft>
                <a:spcPts val="800"/>
              </a:spcAft>
              <a:defRPr sz="1900"/>
            </a:pPr>
            <a:r>
              <a:t>Zabbix Frontend — web application used to configure and visualize Zabbix.</a:t>
            </a:r>
          </a:p>
          <a:p>
            <a:pPr>
              <a:spcAft>
                <a:spcPts val="800"/>
              </a:spcAft>
              <a:defRPr sz="1900"/>
            </a:pPr>
            <a:r>
              <a:t>Nginx + PHP/PHP-FPM — web-serving and runtime components supporting the frontend.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A Simple Hospital Analogy</a:t>
            </a:r>
          </a:p>
        </p:txBody>
      </p:sp>
      <p:pic>
        <p:nvPicPr>
          <p:cNvPr id="3" name="Picture 2" descr="hosp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2558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Patient → server/application being monitored.</a:t>
            </a:r>
          </a:p>
          <a:p>
            <a:pPr>
              <a:spcAft>
                <a:spcPts val="800"/>
              </a:spcAft>
              <a:defRPr sz="1900"/>
            </a:pPr>
            <a:r>
              <a:t>Sensors → Zabbix Agent and other data-collection methods.</a:t>
            </a:r>
          </a:p>
          <a:p>
            <a:pPr>
              <a:spcAft>
                <a:spcPts val="800"/>
              </a:spcAft>
              <a:defRPr sz="1900"/>
            </a:pPr>
            <a:r>
              <a:t>Doctor / monitoring engine → Zabbix Server.</a:t>
            </a:r>
          </a:p>
          <a:p>
            <a:pPr>
              <a:spcAft>
                <a:spcPts val="800"/>
              </a:spcAft>
              <a:defRPr sz="1900"/>
            </a:pPr>
            <a:r>
              <a:t>Medical records → database.</a:t>
            </a:r>
          </a:p>
          <a:p>
            <a:pPr>
              <a:spcAft>
                <a:spcPts val="800"/>
              </a:spcAft>
              <a:defRPr sz="1900"/>
            </a:pPr>
            <a:r>
              <a:t>Hospital dashboard → Zabbix Frontend.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The Monitoring Flow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62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722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1. Agent collects a measurement: CPU utilization = 73.4%.</a:t>
            </a:r>
          </a:p>
          <a:p>
            <a:pPr>
              <a:spcAft>
                <a:spcPts val="800"/>
              </a:spcAft>
              <a:defRPr sz="1700"/>
            </a:pPr>
            <a:r>
              <a:t>2. Zabbix Server receives and processes the measurement.</a:t>
            </a:r>
          </a:p>
          <a:p>
            <a:pPr>
              <a:spcAft>
                <a:spcPts val="800"/>
              </a:spcAft>
              <a:defRPr sz="1700"/>
            </a:pPr>
            <a:r>
              <a:t>3. Relevant data is stored in MySQL.</a:t>
            </a:r>
          </a:p>
          <a:p>
            <a:pPr>
              <a:spcAft>
                <a:spcPts val="800"/>
              </a:spcAft>
              <a:defRPr sz="1700"/>
            </a:pPr>
            <a:r>
              <a:t>4. Triggers evaluate configured conditions.</a:t>
            </a:r>
          </a:p>
          <a:p>
            <a:pPr>
              <a:spcAft>
                <a:spcPts val="800"/>
              </a:spcAft>
              <a:defRPr sz="1700"/>
            </a:pPr>
            <a:r>
              <a:t>5. A problem/event can be created when a condition becomes true.</a:t>
            </a:r>
          </a:p>
          <a:p>
            <a:pPr>
              <a:spcAft>
                <a:spcPts val="800"/>
              </a:spcAft>
              <a:defRPr sz="1700"/>
            </a:pPr>
            <a:r>
              <a:t>6. Frontend displays current and historical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Host, Item and Trigger</a:t>
            </a:r>
          </a:p>
        </p:txBody>
      </p:sp>
      <p:pic>
        <p:nvPicPr>
          <p:cNvPr id="3" name="Picture 2" descr="item_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2558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Host — the thing being monitored, e.g. an EC2 instance.</a:t>
            </a:r>
          </a:p>
          <a:p>
            <a:pPr>
              <a:spcAft>
                <a:spcPts val="800"/>
              </a:spcAft>
              <a:defRPr sz="1900"/>
            </a:pPr>
            <a:r>
              <a:t>Item — what we measure, e.g. CPU utilization, memory or disk usage.</a:t>
            </a:r>
          </a:p>
          <a:p>
            <a:pPr>
              <a:spcAft>
                <a:spcPts val="800"/>
              </a:spcAft>
              <a:defRPr sz="1900"/>
            </a:pPr>
            <a:r>
              <a:t>Trigger — the condition that determines when a measurement represents a problem.</a:t>
            </a:r>
          </a:p>
          <a:p>
            <a:pPr lvl="1">
              <a:spcAft>
                <a:spcPts val="800"/>
              </a:spcAft>
              <a:defRPr sz="1600"/>
            </a:pPr>
            <a:r>
              <a:t>Example Item: CPU utilization</a:t>
            </a:r>
          </a:p>
          <a:p>
            <a:pPr lvl="1">
              <a:spcAft>
                <a:spcPts val="800"/>
              </a:spcAft>
              <a:defRPr sz="1600"/>
            </a:pPr>
            <a:r>
              <a:t>Example Trigger: CPU &gt; 90% for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Item → Trigger → Problem → Recovery</a:t>
            </a:r>
          </a:p>
        </p:txBody>
      </p:sp>
      <p:pic>
        <p:nvPicPr>
          <p:cNvPr id="3" name="Picture 2" descr="item_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62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722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Metric: CPU = 95%.</a:t>
            </a:r>
          </a:p>
          <a:p>
            <a:pPr>
              <a:spcAft>
                <a:spcPts val="800"/>
              </a:spcAft>
              <a:defRPr sz="1900"/>
            </a:pPr>
            <a:r>
              <a:t>Item collects the value.</a:t>
            </a:r>
          </a:p>
          <a:p>
            <a:pPr>
              <a:spcAft>
                <a:spcPts val="800"/>
              </a:spcAft>
              <a:defRPr sz="1900"/>
            </a:pPr>
            <a:r>
              <a:t>Trigger evaluates: CPU &gt; 90% for 5 minutes.</a:t>
            </a:r>
          </a:p>
          <a:p>
            <a:pPr>
              <a:spcAft>
                <a:spcPts val="800"/>
              </a:spcAft>
              <a:defRPr sz="1900"/>
            </a:pPr>
            <a:r>
              <a:t>Problem is created when the trigger becomes true.</a:t>
            </a:r>
          </a:p>
          <a:p>
            <a:pPr>
              <a:spcAft>
                <a:spcPts val="800"/>
              </a:spcAft>
              <a:defRPr sz="1900"/>
            </a:pPr>
            <a:r>
              <a:t>CPU returns below the recovery condition.</a:t>
            </a:r>
          </a:p>
          <a:p>
            <a:pPr>
              <a:spcAft>
                <a:spcPts val="800"/>
              </a:spcAft>
              <a:defRPr sz="1900"/>
            </a:pPr>
            <a:r>
              <a:t>Problem recovers and Zabbix records the state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Why Templates Matter</a:t>
            </a:r>
          </a:p>
        </p:txBody>
      </p:sp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2558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Templates package reusable monitoring configuration.</a:t>
            </a:r>
          </a:p>
          <a:p>
            <a:pPr>
              <a:spcAft>
                <a:spcPts val="800"/>
              </a:spcAft>
              <a:defRPr sz="1900"/>
            </a:pPr>
            <a:r>
              <a:t>They can contain items, triggers, discovery rules, graphs and related configuration.</a:t>
            </a:r>
          </a:p>
          <a:p>
            <a:pPr>
              <a:spcAft>
                <a:spcPts val="800"/>
              </a:spcAft>
              <a:defRPr sz="1900"/>
            </a:pPr>
            <a:r>
              <a:t>Example: Linux by Zabbix agent.</a:t>
            </a:r>
          </a:p>
          <a:p>
            <a:pPr>
              <a:spcAft>
                <a:spcPts val="800"/>
              </a:spcAft>
              <a:defRPr sz="1900"/>
            </a:pPr>
            <a:r>
              <a:t>Apply a suitable template instead of configuring every Linux server individually.</a:t>
            </a:r>
          </a:p>
          <a:p>
            <a:pPr>
              <a:spcAft>
                <a:spcPts val="800"/>
              </a:spcAft>
              <a:defRPr sz="1900"/>
            </a:pPr>
            <a:r>
              <a:t>Templates make monitoring consistent and scalable.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Passive vs. Active Checks</a:t>
            </a:r>
          </a:p>
        </p:txBody>
      </p:sp>
      <p:pic>
        <p:nvPicPr>
          <p:cNvPr id="3" name="Picture 2" descr="passive_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62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722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Passive: the Zabbix Server asks the Agent for a value.</a:t>
            </a:r>
          </a:p>
          <a:p>
            <a:pPr lvl="1">
              <a:spcAft>
                <a:spcPts val="800"/>
              </a:spcAft>
              <a:defRPr sz="1400"/>
            </a:pPr>
            <a:r>
              <a:t>Server → Agent: 'Give me CPU utilization.'</a:t>
            </a:r>
          </a:p>
          <a:p>
            <a:pPr lvl="1">
              <a:spcAft>
                <a:spcPts val="800"/>
              </a:spcAft>
              <a:defRPr sz="1400"/>
            </a:pPr>
            <a:r>
              <a:t>Agent → Server: 'CPU = 72%.'</a:t>
            </a:r>
          </a:p>
          <a:p>
            <a:pPr>
              <a:spcAft>
                <a:spcPts val="800"/>
              </a:spcAft>
              <a:defRPr sz="1700"/>
            </a:pPr>
            <a:r>
              <a:t>Active: the Agent contacts the Server to obtain monitoring instructions and sends collected results.</a:t>
            </a:r>
          </a:p>
          <a:p>
            <a:pPr>
              <a:spcAft>
                <a:spcPts val="800"/>
              </a:spcAft>
              <a:defRPr sz="1700"/>
            </a:pPr>
            <a:r>
              <a:t>Our initial AWS lab uses passive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Where Nginx, PHP and MySQL Fit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2558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Nginx: receives HTTP requests and serves the web frontend.</a:t>
            </a:r>
          </a:p>
          <a:p>
            <a:pPr>
              <a:spcAft>
                <a:spcPts val="800"/>
              </a:spcAft>
              <a:defRPr sz="1900"/>
            </a:pPr>
            <a:r>
              <a:t>PHP/PHP-FPM: executes the Zabbix frontend application logic.</a:t>
            </a:r>
          </a:p>
          <a:p>
            <a:pPr>
              <a:spcAft>
                <a:spcPts val="800"/>
              </a:spcAft>
              <a:defRPr sz="1900"/>
            </a:pPr>
            <a:r>
              <a:t>MySQL: stores persistent Zabbix data.</a:t>
            </a:r>
          </a:p>
          <a:p>
            <a:pPr>
              <a:spcAft>
                <a:spcPts val="800"/>
              </a:spcAft>
              <a:defRPr sz="1900"/>
            </a:pPr>
            <a:r>
              <a:t>These are part of the web/application side.</a:t>
            </a:r>
          </a:p>
          <a:p>
            <a:pPr>
              <a:spcAft>
                <a:spcPts val="800"/>
              </a:spcAft>
              <a:defRPr sz="1900"/>
            </a:pPr>
            <a:r>
              <a:t>They are not in the TCP path used for a passive Agent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Two Important Data Flows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62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722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Monitoring flow: Zabbix Agent → Zabbix Server → MySQL.</a:t>
            </a:r>
          </a:p>
          <a:p>
            <a:pPr>
              <a:spcAft>
                <a:spcPts val="800"/>
              </a:spcAft>
              <a:defRPr sz="1900"/>
            </a:pPr>
            <a:r>
              <a:t>Web UI flow: Browser → Nginx → PHP/Zabbix Frontend → MySQL.</a:t>
            </a:r>
          </a:p>
          <a:p>
            <a:pPr>
              <a:spcAft>
                <a:spcPts val="800"/>
              </a:spcAft>
              <a:defRPr sz="1900"/>
            </a:pPr>
            <a:r>
              <a:t>Key distinction: the Agent communicates with the Zabbix Server, not directly with MySQL or Nginx.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Why Zabbix Is Useful in Cloud Environments</a:t>
            </a:r>
          </a:p>
        </p:txBody>
      </p:sp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2558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Cloud environments can contain many dynamic resources.</a:t>
            </a:r>
          </a:p>
          <a:p>
            <a:pPr>
              <a:spcAft>
                <a:spcPts val="800"/>
              </a:spcAft>
              <a:defRPr sz="1900"/>
            </a:pPr>
            <a:r>
              <a:t>Organizations may operate AWS, on-premises systems, VMs, network devices and applications.</a:t>
            </a:r>
          </a:p>
          <a:p>
            <a:pPr>
              <a:spcAft>
                <a:spcPts val="800"/>
              </a:spcAft>
              <a:defRPr sz="1900"/>
            </a:pPr>
            <a:r>
              <a:t>Centralized monitoring can provide a common operational view.</a:t>
            </a:r>
          </a:p>
          <a:p>
            <a:pPr>
              <a:spcAft>
                <a:spcPts val="800"/>
              </a:spcAft>
              <a:defRPr sz="1900"/>
            </a:pPr>
            <a:r>
              <a:t>Zabbix can complement native cloud monitoring.</a:t>
            </a:r>
          </a:p>
          <a:p>
            <a:pPr>
              <a:spcAft>
                <a:spcPts val="800"/>
              </a:spcAft>
              <a:defRPr sz="1900"/>
            </a:pPr>
            <a:r>
              <a:t>Useful for availability, performance, troubleshooting and capacity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Key Benefits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17473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Open-source monitoring platform</a:t>
            </a:r>
          </a:p>
          <a:p>
            <a:pPr>
              <a:spcAft>
                <a:spcPts val="800"/>
              </a:spcAft>
              <a:defRPr sz="1900"/>
            </a:pPr>
            <a:r>
              <a:t>Centralized visibility across monitored systems</a:t>
            </a:r>
          </a:p>
          <a:p>
            <a:pPr>
              <a:spcAft>
                <a:spcPts val="800"/>
              </a:spcAft>
              <a:defRPr sz="1900"/>
            </a:pPr>
            <a:r>
              <a:t>Broad monitoring capabilities</a:t>
            </a:r>
          </a:p>
          <a:p>
            <a:pPr>
              <a:spcAft>
                <a:spcPts val="800"/>
              </a:spcAft>
              <a:defRPr sz="1900"/>
            </a:pPr>
            <a:r>
              <a:t>Problem detection and alerting</a:t>
            </a:r>
          </a:p>
          <a:p>
            <a:pPr>
              <a:spcAft>
                <a:spcPts val="800"/>
              </a:spcAft>
              <a:defRPr sz="1900"/>
            </a:pPr>
            <a:r>
              <a:t>Historical data and trend analysis</a:t>
            </a:r>
          </a:p>
          <a:p>
            <a:pPr>
              <a:spcAft>
                <a:spcPts val="800"/>
              </a:spcAft>
              <a:defRPr sz="1900"/>
            </a:pPr>
            <a:r>
              <a:t>Dashboards and visualization</a:t>
            </a:r>
          </a:p>
          <a:p>
            <a:pPr>
              <a:spcAft>
                <a:spcPts val="800"/>
              </a:spcAft>
              <a:defRPr sz="1900"/>
            </a:pPr>
            <a:r>
              <a:t>Reusable templates</a:t>
            </a:r>
          </a:p>
          <a:p>
            <a:pPr>
              <a:spcAft>
                <a:spcPts val="800"/>
              </a:spcAft>
              <a:defRPr sz="1900"/>
            </a:pPr>
            <a:r>
              <a:t>Integration and automation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What Zabbix Does Not Do Automatically</a:t>
            </a:r>
          </a:p>
        </p:txBody>
      </p:sp>
      <p:pic>
        <p:nvPicPr>
          <p:cNvPr id="3" name="Picture 2" descr="item_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2558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Monitoring does not automatically fix every problem.</a:t>
            </a:r>
          </a:p>
          <a:p>
            <a:pPr>
              <a:spcAft>
                <a:spcPts val="800"/>
              </a:spcAft>
              <a:defRPr sz="1900"/>
            </a:pPr>
            <a:r>
              <a:t>Example: Disk usage reaches 95%.</a:t>
            </a:r>
          </a:p>
          <a:p>
            <a:pPr>
              <a:spcAft>
                <a:spcPts val="800"/>
              </a:spcAft>
              <a:defRPr sz="1900"/>
            </a:pPr>
            <a:r>
              <a:t>Zabbix can detect the condition and create a problem/alert.</a:t>
            </a:r>
          </a:p>
          <a:p>
            <a:pPr>
              <a:spcAft>
                <a:spcPts val="800"/>
              </a:spcAft>
              <a:defRPr sz="1900"/>
            </a:pPr>
            <a:r>
              <a:t>Automated remediation requires additional configuration and an appropriate workflow.</a:t>
            </a:r>
          </a:p>
          <a:p>
            <a:pPr>
              <a:spcAft>
                <a:spcPts val="800"/>
              </a:spcAft>
              <a:defRPr sz="1900"/>
            </a:pPr>
            <a:r>
              <a:t>Monitoring tells you what is happening; automation determines what action should happen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Our AWS Hands-On Lab</a:t>
            </a:r>
          </a:p>
        </p:txBody>
      </p:sp>
      <p:pic>
        <p:nvPicPr>
          <p:cNvPr id="3" name="Picture 2" descr="aws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62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722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Zabbix Server EC2: monitoring engine, MySQL, Nginx and PHP frontend.</a:t>
            </a:r>
          </a:p>
          <a:p>
            <a:pPr>
              <a:spcAft>
                <a:spcPts val="800"/>
              </a:spcAft>
              <a:defRPr sz="1700"/>
            </a:pPr>
            <a:r>
              <a:t>Zabbix Client EC2: Ubuntu with Zabbix Agent 2.</a:t>
            </a:r>
          </a:p>
          <a:p>
            <a:pPr>
              <a:spcAft>
                <a:spcPts val="800"/>
              </a:spcAft>
              <a:defRPr sz="1700"/>
            </a:pPr>
            <a:r>
              <a:t>Private network communication between Server and Agent.</a:t>
            </a:r>
          </a:p>
          <a:p>
            <a:pPr>
              <a:spcAft>
                <a:spcPts val="800"/>
              </a:spcAft>
              <a:defRPr sz="1700"/>
            </a:pPr>
            <a:r>
              <a:t>Configure a Linux monitoring template.</a:t>
            </a:r>
          </a:p>
          <a:p>
            <a:pPr>
              <a:spcAft>
                <a:spcPts val="800"/>
              </a:spcAft>
              <a:defRPr sz="1700"/>
            </a:pPr>
            <a:r>
              <a:t>Observe CPU, memory and other metrics.</a:t>
            </a:r>
          </a:p>
          <a:p>
            <a:pPr>
              <a:spcAft>
                <a:spcPts val="800"/>
              </a:spcAft>
              <a:defRPr sz="1700"/>
            </a:pPr>
            <a:r>
              <a:t>Deliberately create high CPU → observe Problem → stop load → observe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The End-to-End Lab Journey</a:t>
            </a:r>
          </a:p>
        </p:txBody>
      </p:sp>
      <p:pic>
        <p:nvPicPr>
          <p:cNvPr id="3" name="Picture 2" descr="aws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2558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1. Create AWS EC2 instances.</a:t>
            </a:r>
          </a:p>
          <a:p>
            <a:pPr>
              <a:spcAft>
                <a:spcPts val="800"/>
              </a:spcAft>
              <a:defRPr sz="1700"/>
            </a:pPr>
            <a:r>
              <a:t>2. Install Zabbix Server and supporting components.</a:t>
            </a:r>
          </a:p>
          <a:p>
            <a:pPr>
              <a:spcAft>
                <a:spcPts val="800"/>
              </a:spcAft>
              <a:defRPr sz="1700"/>
            </a:pPr>
            <a:r>
              <a:t>3. Create and initialize the MySQL database.</a:t>
            </a:r>
          </a:p>
          <a:p>
            <a:pPr>
              <a:spcAft>
                <a:spcPts val="800"/>
              </a:spcAft>
              <a:defRPr sz="1700"/>
            </a:pPr>
            <a:r>
              <a:t>4. Configure Nginx and the Zabbix frontend.</a:t>
            </a:r>
          </a:p>
          <a:p>
            <a:pPr>
              <a:spcAft>
                <a:spcPts val="800"/>
              </a:spcAft>
              <a:defRPr sz="1700"/>
            </a:pPr>
            <a:r>
              <a:t>5. Install and configure Zabbix Agent 2.</a:t>
            </a:r>
          </a:p>
          <a:p>
            <a:pPr>
              <a:spcAft>
                <a:spcPts val="800"/>
              </a:spcAft>
              <a:defRPr sz="1700"/>
            </a:pPr>
            <a:r>
              <a:t>6. Add the client host and apply a template.</a:t>
            </a:r>
          </a:p>
          <a:p>
            <a:pPr>
              <a:spcAft>
                <a:spcPts val="800"/>
              </a:spcAft>
              <a:defRPr sz="1700"/>
            </a:pPr>
            <a:r>
              <a:t>7. Validate agent.ping and monitoring availability.</a:t>
            </a:r>
          </a:p>
          <a:p>
            <a:pPr>
              <a:spcAft>
                <a:spcPts val="800"/>
              </a:spcAft>
              <a:defRPr sz="1700"/>
            </a:pPr>
            <a:r>
              <a:t>8. Create CPU load → observe Problem → stop load → observe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A Simple Mental Model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62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722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Agent = Sensor</a:t>
            </a:r>
          </a:p>
          <a:p>
            <a:pPr>
              <a:spcAft>
                <a:spcPts val="800"/>
              </a:spcAft>
              <a:defRPr sz="1700"/>
            </a:pPr>
            <a:r>
              <a:t>Zabbix Server = Brain</a:t>
            </a:r>
          </a:p>
          <a:p>
            <a:pPr>
              <a:spcAft>
                <a:spcPts val="800"/>
              </a:spcAft>
              <a:defRPr sz="1700"/>
            </a:pPr>
            <a:r>
              <a:t>MySQL = Memory</a:t>
            </a:r>
          </a:p>
          <a:p>
            <a:pPr>
              <a:spcAft>
                <a:spcPts val="800"/>
              </a:spcAft>
              <a:defRPr sz="1700"/>
            </a:pPr>
            <a:r>
              <a:t>Frontend = Control panel</a:t>
            </a:r>
          </a:p>
          <a:p>
            <a:pPr>
              <a:spcAft>
                <a:spcPts val="800"/>
              </a:spcAft>
              <a:defRPr sz="1700"/>
            </a:pPr>
            <a:r>
              <a:t>Nginx = Web server / front door</a:t>
            </a:r>
          </a:p>
          <a:p>
            <a:pPr>
              <a:spcAft>
                <a:spcPts val="800"/>
              </a:spcAft>
              <a:defRPr sz="1700"/>
            </a:pPr>
            <a:r>
              <a:t>PHP = Application runtime</a:t>
            </a:r>
          </a:p>
          <a:p>
            <a:pPr>
              <a:spcAft>
                <a:spcPts val="800"/>
              </a:spcAft>
              <a:defRPr sz="1700"/>
            </a:pPr>
            <a:r>
              <a:t>Item = Measurement</a:t>
            </a:r>
          </a:p>
          <a:p>
            <a:pPr>
              <a:spcAft>
                <a:spcPts val="800"/>
              </a:spcAft>
              <a:defRPr sz="1700"/>
            </a:pPr>
            <a:r>
              <a:t>Trigger = Rule</a:t>
            </a:r>
          </a:p>
          <a:p>
            <a:pPr>
              <a:spcAft>
                <a:spcPts val="800"/>
              </a:spcAft>
              <a:defRPr sz="1700"/>
            </a:pPr>
            <a:r>
              <a:t>Problem = Condition requiring attention</a:t>
            </a:r>
          </a:p>
          <a:p>
            <a:pPr>
              <a:spcAft>
                <a:spcPts val="800"/>
              </a:spcAft>
              <a:defRPr sz="1700"/>
            </a:pPr>
            <a:r>
              <a:t>Template = Reusable monitoring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Class Opening — 60-Second Script</a:t>
            </a:r>
          </a:p>
        </p:txBody>
      </p:sp>
      <p:pic>
        <p:nvPicPr>
          <p:cNvPr id="3" name="Picture 2" descr="monitoring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2558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Imagine you are responsible for hundreds of servers, applications, databases and network devices.</a:t>
            </a:r>
          </a:p>
          <a:p>
            <a:pPr>
              <a:spcAft>
                <a:spcPts val="800"/>
              </a:spcAft>
              <a:defRPr sz="1800"/>
            </a:pPr>
            <a:r>
              <a:t>You cannot continuously log in to every machine and check them manually.</a:t>
            </a:r>
          </a:p>
          <a:p>
            <a:pPr>
              <a:spcAft>
                <a:spcPts val="800"/>
              </a:spcAft>
              <a:defRPr sz="1800"/>
            </a:pPr>
            <a:r>
              <a:t>Zabbix continuously collects data, evaluates conditions, detects problems and presents the results through a centralized interface.</a:t>
            </a:r>
          </a:p>
          <a:p>
            <a:pPr>
              <a:spcAft>
                <a:spcPts val="800"/>
              </a:spcAft>
              <a:defRPr sz="1800"/>
            </a:pPr>
            <a:r>
              <a:t>Today we will build this environment on AWS and follow one problem from measurement → trigger → problem →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Key Takeaways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166360" cy="17473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71600"/>
            <a:ext cx="5303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Zabbix is a monitoring and observability platform.</a:t>
            </a:r>
          </a:p>
          <a:p>
            <a:pPr>
              <a:spcAft>
                <a:spcPts val="800"/>
              </a:spcAft>
              <a:defRPr sz="1900"/>
            </a:pPr>
            <a:r>
              <a:t>Agent collects; Server processes; Database persists; Frontend visualizes.</a:t>
            </a:r>
          </a:p>
          <a:p>
            <a:pPr>
              <a:spcAft>
                <a:spcPts val="800"/>
              </a:spcAft>
              <a:defRPr sz="1900"/>
            </a:pPr>
            <a:r>
              <a:t>Items define what to measure; triggers define when a condition is a problem.</a:t>
            </a:r>
          </a:p>
          <a:p>
            <a:pPr>
              <a:spcAft>
                <a:spcPts val="800"/>
              </a:spcAft>
              <a:defRPr sz="1900"/>
            </a:pPr>
            <a:r>
              <a:t>Templates make monitoring reusable and scalable.</a:t>
            </a:r>
          </a:p>
          <a:p>
            <a:pPr>
              <a:spcAft>
                <a:spcPts val="800"/>
              </a:spcAft>
              <a:defRPr sz="1900"/>
            </a:pPr>
            <a:r>
              <a:t>Now we move from concepts to a complete AWS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Zabbix Introduction |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