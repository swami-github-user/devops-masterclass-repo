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Git vs GitHub vs GitLab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>
                <a:solidFill>
                  <a:srgbClr val="E4EFFA"/>
                </a:solidFill>
              </a:rPr>
              <a:t>GitHub Actions vs GitLab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0332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FFFFFF"/>
                </a:solidFill>
              </a:rPr>
              <a:t>A practical DevOps foundation before our AWS CI/CD demos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074920"/>
            <a:ext cx="3017520" cy="685800"/>
          </a:xfrm>
          <a:prstGeom prst="roundRect">
            <a:avLst/>
          </a:prstGeom>
          <a:solidFill>
            <a:srgbClr val="E4EF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18263A"/>
                </a:solidFill>
              </a:rPr>
              <a:t>Git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Version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5074920"/>
            <a:ext cx="3017520" cy="685800"/>
          </a:xfrm>
          <a:prstGeom prst="roundRect">
            <a:avLst/>
          </a:prstGeom>
          <a:solidFill>
            <a:srgbClr val="E4F4EC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18263A"/>
                </a:solidFill>
              </a:rPr>
              <a:t>GitHub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Git-based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5074920"/>
            <a:ext cx="3017520" cy="685800"/>
          </a:xfrm>
          <a:prstGeom prst="roundRect">
            <a:avLst/>
          </a:prstGeom>
          <a:solidFill>
            <a:srgbClr val="FAEDDE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18263A"/>
                </a:solidFill>
              </a:rPr>
              <a:t>GitLab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Git-based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46E"/>
                </a:solidFill>
              </a:rPr>
              <a:t>DevOps Training  •  Git / GitHub / GitLab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63A"/>
                </a:solidFill>
              </a:rPr>
              <a:t>The three terms students often confuse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46E"/>
                </a:solidFill>
              </a:rPr>
              <a:t>They are related, but they are not the same 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108960" cy="3383280"/>
          </a:xfrm>
          <a:prstGeom prst="roundRect">
            <a:avLst/>
          </a:prstGeom>
          <a:solidFill>
            <a:srgbClr val="E4EF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3465A4"/>
                </a:solidFill>
              </a:rPr>
              <a:t>GIT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23272B"/>
                </a:solidFill>
              </a:rPr>
              <a:t>A distributed version control system.
Tracks changes to files, commits, branches, merges and history.
Can work completely locally.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508760"/>
            <a:ext cx="3108960" cy="3383280"/>
          </a:xfrm>
          <a:prstGeom prst="roundRect">
            <a:avLst/>
          </a:prstGeom>
          <a:solidFill>
            <a:srgbClr val="E4F4EC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2D7D5F"/>
                </a:solidFill>
              </a:rPr>
              <a:t>GITHUB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23272B"/>
                </a:solidFill>
              </a:rPr>
              <a:t>A platform built around Git.
Hosts repositories and collaboration features such as pull requests and issues.
Adds GitHub Actions for automation.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508760"/>
            <a:ext cx="3108960" cy="3383280"/>
          </a:xfrm>
          <a:prstGeom prst="roundRect">
            <a:avLst/>
          </a:prstGeom>
          <a:solidFill>
            <a:srgbClr val="FAEDDE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DC8237"/>
                </a:solidFill>
              </a:rPr>
              <a:t>GITLAB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23272B"/>
                </a:solidFill>
              </a:rPr>
              <a:t>A separate platform built around Git.
Provides repositories, merge requests, CI/CD and broader DevOps capabilities.
GitLab CI/CD is its pipeline system.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22191" y="3200400"/>
            <a:ext cx="640081" cy="0"/>
          </a:xfrm>
          <a:prstGeom prst="line">
            <a:avLst/>
          </a:prstGeom>
          <a:ln w="31750">
            <a:solidFill>
              <a:srgbClr val="18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62672" y="3200400"/>
            <a:ext cx="640080" cy="0"/>
          </a:xfrm>
          <a:prstGeom prst="line">
            <a:avLst/>
          </a:prstGeom>
          <a:ln w="31750">
            <a:solidFill>
              <a:srgbClr val="18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530352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8263A"/>
                </a:solidFill>
              </a:rPr>
              <a:t>Key message: Git is the technology; GitHub and GitLab are platforms that use Git.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46E"/>
                </a:solidFill>
              </a:rPr>
              <a:t>DevOps Training  •  Git / GitHub / GitLab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63A"/>
                </a:solidFill>
              </a:rPr>
              <a:t>1. What is Git?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46E"/>
                </a:solidFill>
              </a:rPr>
              <a:t>Git is the underlying version-control technology.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2286000" cy="1143000"/>
          </a:xfrm>
          <a:prstGeom prst="roundRect">
            <a:avLst/>
          </a:prstGeom>
          <a:solidFill>
            <a:srgbClr val="F4F6F8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18263A"/>
                </a:solidFill>
              </a:rPr>
              <a:t>Working Directory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Your project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286000" cy="1143000"/>
          </a:xfrm>
          <a:prstGeom prst="roundRect">
            <a:avLst/>
          </a:prstGeom>
          <a:solidFill>
            <a:srgbClr val="E4EF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3465A4"/>
                </a:solidFill>
              </a:rPr>
              <a:t>Staging Area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git add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371600"/>
            <a:ext cx="2286000" cy="1143000"/>
          </a:xfrm>
          <a:prstGeom prst="roundRect">
            <a:avLst/>
          </a:prstGeom>
          <a:solidFill>
            <a:srgbClr val="E4F4EC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2D7D5F"/>
                </a:solidFill>
              </a:rPr>
              <a:t>Local Repository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git commit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371600"/>
            <a:ext cx="2286000" cy="1143000"/>
          </a:xfrm>
          <a:prstGeom prst="roundRect">
            <a:avLst/>
          </a:prstGeom>
          <a:solidFill>
            <a:srgbClr val="FAEDDE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DC8237"/>
                </a:solidFill>
              </a:rPr>
              <a:t>Remote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git push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90088" y="1938528"/>
            <a:ext cx="283464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641848" y="1938528"/>
            <a:ext cx="283464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93608" y="1938528"/>
            <a:ext cx="283464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3063240"/>
            <a:ext cx="10424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72B"/>
                </a:solidFill>
              </a:defRPr>
            </a:pPr>
            <a:r>
              <a:t>• Distributed: developers have a complete local repository.</a:t>
            </a:r>
          </a:p>
          <a:p>
            <a:pPr>
              <a:spcAft>
                <a:spcPts val="1200"/>
              </a:spcAft>
              <a:defRPr sz="1800">
                <a:solidFill>
                  <a:srgbClr val="23272B"/>
                </a:solidFill>
              </a:defRPr>
            </a:pPr>
            <a:r>
              <a:t>• Tracks history through commits.</a:t>
            </a:r>
          </a:p>
          <a:p>
            <a:pPr>
              <a:spcAft>
                <a:spcPts val="1200"/>
              </a:spcAft>
              <a:defRPr sz="1800">
                <a:solidFill>
                  <a:srgbClr val="23272B"/>
                </a:solidFill>
              </a:defRPr>
            </a:pPr>
            <a:r>
              <a:t>• Supports branches, merging, tags and collaboration workflows.</a:t>
            </a:r>
          </a:p>
          <a:p>
            <a:pPr>
              <a:spcAft>
                <a:spcPts val="1200"/>
              </a:spcAft>
              <a:defRPr sz="1800">
                <a:solidFill>
                  <a:srgbClr val="23272B"/>
                </a:solidFill>
              </a:defRPr>
            </a:pPr>
            <a:r>
              <a:t>• Git does not require GitHub or GitLab.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46E"/>
                </a:solidFill>
              </a:rPr>
              <a:t>DevOps Training  •  Git / GitHub / GitLab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63A"/>
                </a:solidFill>
              </a:rPr>
              <a:t>2. What is GitHub?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46E"/>
                </a:solidFill>
              </a:rPr>
              <a:t>A hosted platform built around Git repositories.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743200" cy="1143000"/>
          </a:xfrm>
          <a:prstGeom prst="roundRect">
            <a:avLst/>
          </a:prstGeom>
          <a:solidFill>
            <a:srgbClr val="E4EF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3465A4"/>
                </a:solidFill>
              </a:rPr>
              <a:t>Git Repository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3272B"/>
                </a:solidFill>
              </a:rPr>
              <a:t>Source code + history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417320"/>
            <a:ext cx="2743200" cy="1143000"/>
          </a:xfrm>
          <a:prstGeom prst="roundRect">
            <a:avLst/>
          </a:prstGeom>
          <a:solidFill>
            <a:srgbClr val="E4F4EC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2D7D5F"/>
                </a:solidFill>
              </a:rPr>
              <a:t>Collaboration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3272B"/>
                </a:solidFill>
              </a:rPr>
              <a:t>Pull requests • Issues • Reviews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417320"/>
            <a:ext cx="2743200" cy="1143000"/>
          </a:xfrm>
          <a:prstGeom prst="roundRect">
            <a:avLst/>
          </a:prstGeom>
          <a:solidFill>
            <a:srgbClr val="FAEDDE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DC8237"/>
                </a:solidFill>
              </a:rPr>
              <a:t>GitHub Actions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3272B"/>
                </a:solidFill>
              </a:rPr>
              <a:t>Automation + CI/CD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47872" y="1993392"/>
            <a:ext cx="1069848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25512" y="1993392"/>
            <a:ext cx="1069848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3063240"/>
            <a:ext cx="10515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72B"/>
                </a:solidFill>
              </a:defRPr>
            </a:pPr>
            <a:r>
              <a:t>• GitHub provides remote hosting and collaboration around Git.</a:t>
            </a:r>
          </a:p>
          <a:p>
            <a:pPr>
              <a:spcAft>
                <a:spcPts val="1200"/>
              </a:spcAft>
              <a:defRPr sz="1700">
                <a:solidFill>
                  <a:srgbClr val="23272B"/>
                </a:solidFill>
              </a:defRPr>
            </a:pPr>
            <a:r>
              <a:t>• Developers commonly use git push to send local changes to GitHub.</a:t>
            </a:r>
          </a:p>
          <a:p>
            <a:pPr>
              <a:spcAft>
                <a:spcPts val="1200"/>
              </a:spcAft>
              <a:defRPr sz="1700">
                <a:solidFill>
                  <a:srgbClr val="23272B"/>
                </a:solidFill>
              </a:defRPr>
            </a:pPr>
            <a:r>
              <a:t>• GitHub Actions automates work when GitHub events occur.</a:t>
            </a:r>
          </a:p>
          <a:p>
            <a:pPr>
              <a:spcAft>
                <a:spcPts val="1200"/>
              </a:spcAft>
              <a:defRPr sz="1700">
                <a:solidFill>
                  <a:srgbClr val="23272B"/>
                </a:solidFill>
              </a:defRPr>
            </a:pPr>
            <a:r>
              <a:t>• GitHub can integrate with AWS, containers, Kubernetes, Terraform and many other tools.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46E"/>
                </a:solidFill>
              </a:rPr>
              <a:t>DevOps Training  •  Git / GitHub / GitLab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63A"/>
                </a:solidFill>
              </a:rPr>
              <a:t>3. What is GitLab?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46E"/>
                </a:solidFill>
              </a:rPr>
              <a:t>A separate platform that also uses Git.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514600" cy="3383280"/>
          </a:xfrm>
          <a:prstGeom prst="roundRect">
            <a:avLst/>
          </a:prstGeom>
          <a:solidFill>
            <a:srgbClr val="FAEDDE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DC8237"/>
                </a:solidFill>
              </a:rPr>
              <a:t>GitLab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3272B"/>
                </a:solidFill>
              </a:rPr>
              <a:t>Git repository hosting
Merge requests
Issues &amp; planning
CI/CD
Container/package registries
Security &amp; DevSecOps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325880"/>
            <a:ext cx="3474720" cy="3383280"/>
          </a:xfrm>
          <a:prstGeom prst="roundRect">
            <a:avLst/>
          </a:prstGeom>
          <a:solidFill>
            <a:srgbClr val="E4EF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3465A4"/>
                </a:solidFill>
              </a:rPr>
              <a:t>GitLab CI/CD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3272B"/>
                </a:solidFill>
              </a:rPr>
              <a:t>Pipeline definition:
.gitlab-ci.yml
Typical stages:
Build → Test → Deploy
Jobs execute on GitLab Runners.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325880"/>
            <a:ext cx="3474720" cy="3383280"/>
          </a:xfrm>
          <a:prstGeom prst="roundRect">
            <a:avLst/>
          </a:prstGeom>
          <a:solidFill>
            <a:srgbClr val="E4F4EC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2D7D5F"/>
                </a:solidFill>
              </a:rPr>
              <a:t>Deployment Targets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3272B"/>
                </a:solidFill>
              </a:rPr>
              <a:t>AWS
Azure
GCP
Kubernetes
On-premises
GitLab is not tied to one cloud.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82112" y="3017520"/>
            <a:ext cx="475488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269480" y="3017520"/>
            <a:ext cx="457199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51663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8263A"/>
                </a:solidFill>
              </a:rPr>
              <a:t>GitLab is NOT a feature of GitHub — it is a separate Git-based platform.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46E"/>
                </a:solidFill>
              </a:rPr>
              <a:t>DevOps Training  •  Git / GitHub / GitLab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63A"/>
                </a:solidFill>
              </a:rPr>
              <a:t>How the ecosystems fit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057400" cy="1097280"/>
          </a:xfrm>
          <a:prstGeom prst="roundRect">
            <a:avLst/>
          </a:prstGeom>
          <a:solidFill>
            <a:srgbClr val="E4EF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3465A4"/>
                </a:solidFill>
              </a:rPr>
              <a:t>Git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23272B"/>
                </a:solidFill>
              </a:rPr>
              <a:t>Version control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88920" y="1874519"/>
            <a:ext cx="868680" cy="0"/>
          </a:xfrm>
          <a:prstGeom prst="line">
            <a:avLst/>
          </a:prstGeom>
          <a:ln w="31750">
            <a:solidFill>
              <a:srgbClr val="18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749039" y="1234440"/>
            <a:ext cx="2468880" cy="1280160"/>
          </a:xfrm>
          <a:prstGeom prst="roundRect">
            <a:avLst/>
          </a:prstGeom>
          <a:solidFill>
            <a:srgbClr val="E4F4EC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2D7D5F"/>
                </a:solidFill>
              </a:rPr>
              <a:t>GitHub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23272B"/>
                </a:solidFill>
              </a:rPr>
              <a:t>Platform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355080" y="1874519"/>
            <a:ext cx="960120" cy="0"/>
          </a:xfrm>
          <a:prstGeom prst="line">
            <a:avLst/>
          </a:prstGeom>
          <a:ln w="31750">
            <a:solidFill>
              <a:srgbClr val="18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406640" y="1234440"/>
            <a:ext cx="3931920" cy="1280160"/>
          </a:xfrm>
          <a:prstGeom prst="roundRect">
            <a:avLst/>
          </a:prstGeom>
          <a:solidFill>
            <a:srgbClr val="FAEDDE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DC8237"/>
                </a:solidFill>
              </a:rPr>
              <a:t>GitHub Actions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23272B"/>
                </a:solidFill>
              </a:rPr>
              <a:t>Automation / 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2057400" cy="1097280"/>
          </a:xfrm>
          <a:prstGeom prst="roundRect">
            <a:avLst/>
          </a:prstGeom>
          <a:solidFill>
            <a:srgbClr val="E4EF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3465A4"/>
                </a:solidFill>
              </a:rPr>
              <a:t>Git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23272B"/>
                </a:solidFill>
              </a:rPr>
              <a:t>Same underlying VCS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4297680"/>
            <a:ext cx="868680" cy="0"/>
          </a:xfrm>
          <a:prstGeom prst="line">
            <a:avLst/>
          </a:prstGeom>
          <a:ln w="31750">
            <a:solidFill>
              <a:srgbClr val="18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49039" y="3657600"/>
            <a:ext cx="2468880" cy="1280160"/>
          </a:xfrm>
          <a:prstGeom prst="roundRect">
            <a:avLst/>
          </a:prstGeom>
          <a:solidFill>
            <a:srgbClr val="FAEDDE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DC8237"/>
                </a:solidFill>
              </a:rPr>
              <a:t>GitLab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23272B"/>
                </a:solidFill>
              </a:rPr>
              <a:t>Platform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55080" y="4297680"/>
            <a:ext cx="960120" cy="0"/>
          </a:xfrm>
          <a:prstGeom prst="line">
            <a:avLst/>
          </a:prstGeom>
          <a:ln w="31750">
            <a:solidFill>
              <a:srgbClr val="18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3657600"/>
            <a:ext cx="3931920" cy="1280160"/>
          </a:xfrm>
          <a:prstGeom prst="roundRect">
            <a:avLst/>
          </a:prstGeom>
          <a:solidFill>
            <a:srgbClr val="EFE8F7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6A4C93"/>
                </a:solidFill>
              </a:rPr>
              <a:t>GitLab CI/CD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23272B"/>
                </a:solidFill>
              </a:rPr>
              <a:t>Automation / CI/CD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46E"/>
                </a:solidFill>
              </a:rPr>
              <a:t>DevOps Training  •  Git / GitHub / GitLab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63A"/>
                </a:solidFill>
              </a:rPr>
              <a:t>Where CI/CD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46E"/>
                </a:solidFill>
              </a:rPr>
              <a:t>Both platforms automate the same core DevOps lifecycle.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2148840" cy="1828800"/>
          </a:xfrm>
          <a:prstGeom prst="roundRect">
            <a:avLst/>
          </a:prstGeom>
          <a:solidFill>
            <a:srgbClr val="E4EF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18263A"/>
                </a:solidFill>
              </a:rPr>
              <a:t>Code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Developer push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15768" y="2788920"/>
            <a:ext cx="438912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34639" y="1874519"/>
            <a:ext cx="2148840" cy="1828800"/>
          </a:xfrm>
          <a:prstGeom prst="roundRect">
            <a:avLst/>
          </a:prstGeom>
          <a:solidFill>
            <a:srgbClr val="E4F4EC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18263A"/>
                </a:solidFill>
              </a:rPr>
              <a:t>Build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Compile/package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47488" y="2788920"/>
            <a:ext cx="438912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66359" y="1874519"/>
            <a:ext cx="2148840" cy="1828800"/>
          </a:xfrm>
          <a:prstGeom prst="roundRect">
            <a:avLst/>
          </a:prstGeom>
          <a:solidFill>
            <a:srgbClr val="FAEDDE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18263A"/>
                </a:solidFill>
              </a:rPr>
              <a:t>Test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Automated tests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79208" y="2788920"/>
            <a:ext cx="438911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79" y="1874519"/>
            <a:ext cx="2148840" cy="1828800"/>
          </a:xfrm>
          <a:prstGeom prst="roundRect">
            <a:avLst/>
          </a:prstGeom>
          <a:solidFill>
            <a:srgbClr val="EFE8F7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18263A"/>
                </a:solidFill>
              </a:rPr>
              <a:t>Package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Artifact/image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10928" y="2788920"/>
            <a:ext cx="438912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29800" y="1874519"/>
            <a:ext cx="2148840" cy="1828800"/>
          </a:xfrm>
          <a:prstGeom prst="roundRect">
            <a:avLst/>
          </a:prstGeom>
          <a:solidFill>
            <a:srgbClr val="F4F6F8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18263A"/>
                </a:solidFill>
              </a:rPr>
              <a:t>Deploy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Target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8263A"/>
                </a:solidFill>
              </a:rPr>
              <a:t>CI = continuously integrate and validate changes
CD = continuously deliver/deploy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46E"/>
                </a:solidFill>
              </a:rPr>
              <a:t>DevOps Training  •  Git / GitHub / GitLab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63A"/>
                </a:solidFill>
              </a:rPr>
              <a:t>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46E"/>
                </a:solidFill>
              </a:rPr>
              <a:t>GitHub's automation and CI/CD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240280" cy="1280160"/>
          </a:xfrm>
          <a:prstGeom prst="roundRect">
            <a:avLst/>
          </a:prstGeom>
          <a:solidFill>
            <a:srgbClr val="E4F4EC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2D7D5F"/>
                </a:solidFill>
              </a:rPr>
              <a:t>GitHub Repository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3272B"/>
                </a:solidFill>
              </a:rPr>
              <a:t>Source code + events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99232" y="2011680"/>
            <a:ext cx="704088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94760" y="1280160"/>
            <a:ext cx="2423160" cy="1463040"/>
          </a:xfrm>
          <a:prstGeom prst="roundRect">
            <a:avLst/>
          </a:prstGeom>
          <a:solidFill>
            <a:srgbClr val="E4EF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3465A4"/>
                </a:solidFill>
              </a:rPr>
              <a:t>Workflow YAML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3272B"/>
                </a:solidFill>
              </a:rPr>
              <a:t>.github/workflows/*.yml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355080" y="2011680"/>
            <a:ext cx="704088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0" y="1280160"/>
            <a:ext cx="2057400" cy="1463040"/>
          </a:xfrm>
          <a:prstGeom prst="roundRect">
            <a:avLst/>
          </a:prstGeom>
          <a:solidFill>
            <a:srgbClr val="FAEDDE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DC8237"/>
                </a:solidFill>
              </a:rPr>
              <a:t>Runner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3272B"/>
                </a:solidFill>
              </a:rPr>
              <a:t>Executes jobs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26880" y="2011680"/>
            <a:ext cx="685800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058400" y="1371600"/>
            <a:ext cx="1508760" cy="1280160"/>
          </a:xfrm>
          <a:prstGeom prst="roundRect">
            <a:avLst/>
          </a:prstGeom>
          <a:solidFill>
            <a:srgbClr val="EFE8F7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6A4C93"/>
                </a:solidFill>
              </a:rPr>
              <a:t>AWS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3272B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72B"/>
                </a:solidFill>
              </a:defRPr>
            </a:pPr>
            <a:r>
              <a:t>• Triggered by GitHub events such as push, pull request, schedule or manual execution.</a:t>
            </a:r>
          </a:p>
          <a:p>
            <a:pPr>
              <a:spcAft>
                <a:spcPts val="1200"/>
              </a:spcAft>
              <a:defRPr sz="1700">
                <a:solidFill>
                  <a:srgbClr val="23272B"/>
                </a:solidFill>
              </a:defRPr>
            </a:pPr>
            <a:r>
              <a:t>• Workflows contain jobs; jobs contain steps.</a:t>
            </a:r>
          </a:p>
          <a:p>
            <a:pPr>
              <a:spcAft>
                <a:spcPts val="1200"/>
              </a:spcAft>
              <a:defRPr sz="1700">
                <a:solidFill>
                  <a:srgbClr val="23272B"/>
                </a:solidFill>
              </a:defRPr>
            </a:pPr>
            <a:r>
              <a:t>• Runners execute the steps.</a:t>
            </a:r>
          </a:p>
          <a:p>
            <a:pPr>
              <a:spcAft>
                <a:spcPts val="1200"/>
              </a:spcAft>
              <a:defRPr sz="1700">
                <a:solidFill>
                  <a:srgbClr val="23272B"/>
                </a:solidFill>
              </a:defRPr>
            </a:pPr>
            <a:r>
              <a:t>• Secrets can be used for credentials and other sensitive values.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46E"/>
                </a:solidFill>
              </a:rPr>
              <a:t>DevOps Training  •  Git / GitHub / GitLab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63A"/>
                </a:solidFill>
              </a:rPr>
              <a:t>GitLab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46E"/>
                </a:solidFill>
              </a:rPr>
              <a:t>GitLab's integrated pipeline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057400" cy="1280160"/>
          </a:xfrm>
          <a:prstGeom prst="roundRect">
            <a:avLst/>
          </a:prstGeom>
          <a:solidFill>
            <a:srgbClr val="FAEDDE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DC8237"/>
                </a:solidFill>
              </a:rPr>
              <a:t>GitLab Repo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3272B"/>
                </a:solidFill>
              </a:rPr>
              <a:t>Source + events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88920" y="2011680"/>
            <a:ext cx="640080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20440" y="1280160"/>
            <a:ext cx="2423160" cy="1463040"/>
          </a:xfrm>
          <a:prstGeom prst="roundRect">
            <a:avLst/>
          </a:prstGeom>
          <a:solidFill>
            <a:srgbClr val="E4EF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3465A4"/>
                </a:solidFill>
              </a:rPr>
              <a:t>.gitlab-ci.yml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3272B"/>
                </a:solidFill>
              </a:rPr>
              <a:t>Pipeline definition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011680"/>
            <a:ext cx="640080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12280" y="1280160"/>
            <a:ext cx="2148840" cy="1463040"/>
          </a:xfrm>
          <a:prstGeom prst="roundRect">
            <a:avLst/>
          </a:prstGeom>
          <a:solidFill>
            <a:srgbClr val="E4F4EC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2D7D5F"/>
                </a:solidFill>
              </a:rPr>
              <a:t>GitLab Runner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3272B"/>
                </a:solidFill>
              </a:rPr>
              <a:t>Executes jobs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98280" y="2011680"/>
            <a:ext cx="640080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829800" y="1371600"/>
            <a:ext cx="1737360" cy="1280160"/>
          </a:xfrm>
          <a:prstGeom prst="roundRect">
            <a:avLst/>
          </a:prstGeom>
          <a:solidFill>
            <a:srgbClr val="EFE8F7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6A4C93"/>
                </a:solidFill>
              </a:rPr>
              <a:t>AWS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23272B"/>
                </a:solidFill>
              </a:rPr>
              <a:t>Deploy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72B"/>
                </a:solidFill>
              </a:defRPr>
            </a:pPr>
            <a:r>
              <a:t>• Pipelines are commonly defined in .gitlab-ci.yml.</a:t>
            </a:r>
          </a:p>
          <a:p>
            <a:pPr>
              <a:spcAft>
                <a:spcPts val="1200"/>
              </a:spcAft>
              <a:defRPr sz="1700">
                <a:solidFill>
                  <a:srgbClr val="23272B"/>
                </a:solidFill>
              </a:defRPr>
            </a:pPr>
            <a:r>
              <a:t>• Stages organize the pipeline, while jobs perform the actual work.</a:t>
            </a:r>
          </a:p>
          <a:p>
            <a:pPr>
              <a:spcAft>
                <a:spcPts val="1200"/>
              </a:spcAft>
              <a:defRPr sz="1700">
                <a:solidFill>
                  <a:srgbClr val="23272B"/>
                </a:solidFill>
              </a:defRPr>
            </a:pPr>
            <a:r>
              <a:t>• GitLab Runners execute jobs.</a:t>
            </a:r>
          </a:p>
          <a:p>
            <a:pPr>
              <a:spcAft>
                <a:spcPts val="1200"/>
              </a:spcAft>
              <a:defRPr sz="1700">
                <a:solidFill>
                  <a:srgbClr val="23272B"/>
                </a:solidFill>
              </a:defRPr>
            </a:pPr>
            <a:r>
              <a:t>• CI/CD variables store credentials and configuration values.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46E"/>
                </a:solidFill>
              </a:rPr>
              <a:t>DevOps Training  •  Git / GitHub / GitLab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63A"/>
                </a:solidFill>
              </a:rPr>
              <a:t>GitHub Actions vs GitLab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46E"/>
                </a:solidFill>
              </a:rPr>
              <a:t>Same DevOps goal; different platform ecosystems.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1097279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18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GitHub Actions</a:t>
                      </a:r>
                    </a:p>
                  </a:txBody>
                  <a:tcPr>
                    <a:solidFill>
                      <a:srgbClr val="1826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GitLab CI/CD</a:t>
                      </a:r>
                    </a:p>
                  </a:txBody>
                  <a:tcPr>
                    <a:solidFill>
                      <a:srgbClr val="18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Source-control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GitLab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Pipeline file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.github/workflows/*.yml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.gitlab-ci.yml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Execution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GitHub-hosted / self-hosted runners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GitLab Runners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Secrets / variables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GitHub Secrets / Variables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CI/CD Variables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Container registry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GitHub Container Registry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GitLab Container Registry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AWS deployment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Self-managed option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GitHub Enterprise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GitLab Self-Managed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Platform philosophy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GitHub ecosystem + automation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272B"/>
                          </a:solidFill>
                        </a:rPr>
                        <a:t>Integrated DevOps platform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46E"/>
                </a:solidFill>
              </a:rPr>
              <a:t>DevOps Training  •  Git / GitHub / GitLab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63A"/>
                </a:solidFill>
              </a:rPr>
              <a:t>When might you use which?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46E"/>
                </a:solidFill>
              </a:rPr>
              <a:t>The organization's existing platform and workflow are major factors.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3977639"/>
          </a:xfrm>
          <a:prstGeom prst="roundRect">
            <a:avLst/>
          </a:prstGeom>
          <a:solidFill>
            <a:srgbClr val="E4F4EC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2D7D5F"/>
                </a:solidFill>
              </a:rPr>
              <a:t>GitHub Actions may be a natural fit when…</a:t>
            </a:r>
          </a:p>
          <a:p>
            <a:pPr>
              <a:spcBef>
                <a:spcPts val="700"/>
              </a:spcBef>
            </a:pPr>
            <a:r>
              <a:rPr sz="1700">
                <a:solidFill>
                  <a:srgbClr val="23272B"/>
                </a:solidFill>
              </a:rPr>
              <a:t>• Teams already use GitHub repositories and pull requests
• The organization wants GitHub-native automation
• The team relies heavily on the GitHub ecosystem
• CI/CD is needed without introducing a separate CI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5212080" cy="3977639"/>
          </a:xfrm>
          <a:prstGeom prst="roundRect">
            <a:avLst/>
          </a:prstGeom>
          <a:solidFill>
            <a:srgbClr val="FAEDDE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DC8237"/>
                </a:solidFill>
              </a:rPr>
              <a:t>GitLab CI/CD may be a natural fit when…</a:t>
            </a:r>
          </a:p>
          <a:p>
            <a:pPr>
              <a:spcBef>
                <a:spcPts val="700"/>
              </a:spcBef>
            </a:pPr>
            <a:r>
              <a:rPr sz="1700">
                <a:solidFill>
                  <a:srgbClr val="23272B"/>
                </a:solidFill>
              </a:rPr>
              <a:t>• Teams already use GitLab repositories
• The organization wants a highly integrated DevOps platform
• CI/CD, security and deployment workflows are managed together
• GitLab Self-Managed is part of the infrastructure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62356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18263A"/>
                </a:solidFill>
              </a:rPr>
              <a:t>Important: AWS does not force the choice — both can deploy to AWS.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46E"/>
                </a:solidFill>
              </a:rPr>
              <a:t>DevOps Training  •  Git / GitHub / GitLab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8263A"/>
                </a:solidFill>
              </a:rPr>
              <a:t>Our classroom demos: same app, two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46E"/>
                </a:solidFill>
              </a:rPr>
              <a:t>This makes the platform differences easy to see.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737360" cy="914400"/>
          </a:xfrm>
          <a:prstGeom prst="roundRect">
            <a:avLst/>
          </a:prstGeom>
          <a:solidFill>
            <a:srgbClr val="F4F6F8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18263A"/>
                </a:solidFill>
              </a:rPr>
              <a:t>Developer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git push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1691640"/>
            <a:ext cx="457200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88920" y="1234440"/>
            <a:ext cx="1828800" cy="914400"/>
          </a:xfrm>
          <a:prstGeom prst="roundRect">
            <a:avLst/>
          </a:prstGeom>
          <a:solidFill>
            <a:srgbClr val="E4F4EC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2D7D5F"/>
                </a:solidFill>
              </a:rPr>
              <a:t>GitHub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Repository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09160" y="1691640"/>
            <a:ext cx="457200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12080" y="1234440"/>
            <a:ext cx="1965960" cy="914400"/>
          </a:xfrm>
          <a:prstGeom prst="roundRect">
            <a:avLst/>
          </a:prstGeom>
          <a:solidFill>
            <a:srgbClr val="E4EF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3465A4"/>
                </a:solidFill>
              </a:rPr>
              <a:t>GitHub Actions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Build / Test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69480" y="1691640"/>
            <a:ext cx="457199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0" y="1234440"/>
            <a:ext cx="1737360" cy="914400"/>
          </a:xfrm>
          <a:prstGeom prst="roundRect">
            <a:avLst/>
          </a:prstGeom>
          <a:solidFill>
            <a:srgbClr val="FAEDDE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DC8237"/>
                </a:solidFill>
              </a:rPr>
              <a:t>Runner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Execute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601200" y="1691640"/>
            <a:ext cx="457200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104120" y="1234440"/>
            <a:ext cx="1600200" cy="914400"/>
          </a:xfrm>
          <a:prstGeom prst="roundRect">
            <a:avLst/>
          </a:prstGeom>
          <a:solidFill>
            <a:srgbClr val="EFE8F7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6A4C93"/>
                </a:solidFill>
              </a:rPr>
              <a:t>AWS EC2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Nginx +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1737360" cy="914400"/>
          </a:xfrm>
          <a:prstGeom prst="roundRect">
            <a:avLst/>
          </a:prstGeom>
          <a:solidFill>
            <a:srgbClr val="F4F6F8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18263A"/>
                </a:solidFill>
              </a:rPr>
              <a:t>Developer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git push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114800"/>
            <a:ext cx="457200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88920" y="3657600"/>
            <a:ext cx="1828800" cy="914400"/>
          </a:xfrm>
          <a:prstGeom prst="roundRect">
            <a:avLst/>
          </a:prstGeom>
          <a:solidFill>
            <a:srgbClr val="FAEDDE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DC8237"/>
                </a:solidFill>
              </a:rPr>
              <a:t>GitLab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Repository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09160" y="4114800"/>
            <a:ext cx="457200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12080" y="3657600"/>
            <a:ext cx="1965960" cy="914400"/>
          </a:xfrm>
          <a:prstGeom prst="roundRect">
            <a:avLst/>
          </a:prstGeom>
          <a:solidFill>
            <a:srgbClr val="E4EFFA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3465A4"/>
                </a:solidFill>
              </a:rPr>
              <a:t>GitLab CI/CD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Build / Test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69480" y="4114800"/>
            <a:ext cx="457199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0" y="3657600"/>
            <a:ext cx="1737360" cy="914400"/>
          </a:xfrm>
          <a:prstGeom prst="roundRect">
            <a:avLst/>
          </a:prstGeom>
          <a:solidFill>
            <a:srgbClr val="E4F4EC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2D7D5F"/>
                </a:solidFill>
              </a:rPr>
              <a:t>Runner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Execute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200" y="4114800"/>
            <a:ext cx="457200" cy="0"/>
          </a:xfrm>
          <a:prstGeom prst="line">
            <a:avLst/>
          </a:prstGeom>
          <a:ln w="31750">
            <a:solidFill>
              <a:srgbClr val="5C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104120" y="3657600"/>
            <a:ext cx="1600200" cy="914400"/>
          </a:xfrm>
          <a:prstGeom prst="roundRect">
            <a:avLst/>
          </a:prstGeom>
          <a:solidFill>
            <a:srgbClr val="EFE8F7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/>
            <a:r>
              <a:rPr sz="1800" b="1">
                <a:solidFill>
                  <a:srgbClr val="6A4C93"/>
                </a:solidFill>
              </a:rPr>
              <a:t>AWS EC2</a:t>
            </a:r>
          </a:p>
          <a:p>
            <a:pPr>
              <a:spcBef>
                <a:spcPts val="700"/>
              </a:spcBef>
            </a:pPr>
            <a:r>
              <a:rPr sz="1400">
                <a:solidFill>
                  <a:srgbClr val="23272B"/>
                </a:solidFill>
              </a:rPr>
              <a:t>Nginx +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74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8263A"/>
                </a:solidFill>
              </a:rPr>
              <a:t>Same application • Same AWS target • Different CI/CD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C646E"/>
                </a:solidFill>
              </a:rPr>
              <a:t>DevOps Training  •  Git / GitHub / GitLab  •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1038</Words>
  <Application>Microsoft Office PowerPoint</Application>
  <PresentationFormat>Widescreen</PresentationFormat>
  <Paragraphs>178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Swami S</cp:lastModifiedBy>
  <cp:revision>2</cp:revision>
  <dcterms:created xsi:type="dcterms:W3CDTF">2013-01-27T09:14:16Z</dcterms:created>
  <dcterms:modified xsi:type="dcterms:W3CDTF">2026-10-01T02:17:16Z</dcterms:modified>
  <cp:category/>
</cp:coreProperties>
</file>