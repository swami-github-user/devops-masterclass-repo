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session clears up the most common confusion for DevOps beginners: Git is a tool, while GitHub and GitLab are platforms built around that tool. In the second half we compare the two CI/CD engines: GitHub Actions and GitLab CI/CD.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blocks: first the foundation (Git), then the platforms, then a structured comparison. Second half moves to CI/CD and compares the two pipeline engines.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Git runs locally. You can init a repo, commit, branch and merge without internet. The remote at the bottom is just another copy of the repository — that's where GitHub or GitLab come in. Also mention git pull / git fetch as the reverse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Git is like a word processor's track-changes engine; GitHub and GitLab are like Google Drive / SharePoint — places to store, share and collaborate on those files. You can use Git with GitHub, GitLab, Bitbucket, AWS CodeCommit or a plain SSH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row by row. Key teaching point: PR (GitHub) and MR (GitLab) are the same concept with different names. Both platforms offer self-hosting — GitHub via Enterprise Server (paid), GitLab via Community/Enterprise Edition, and GitLab CE is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is 'better' — they optimise for different things. GitHub: ecosystem and community. GitLab: single-application DevSecOps and self-hosting. Many enterprises actually use both (e.g., GitHub for open source, GitLab internally).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now that we know where code lives, let's automate what happens to it after every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GitHub Actions and GitLab CI/CD implement this exact flow. The difference is in syntax, terminology and ecosystem — not in the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Hierarchy: Event triggers a Workflow → Workflow has Jobs → Jobs have Steps → Steps run commands or Actions → everything executes on a Runner. The Marketplace of community actions is GitHub's biggest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GitLab thinks in stages first: all jobs in 'build' finish before 'test' begins — unless you use 'needs' to build a DAG. Auto DevOps can generate a full pipeline with zero config. Parent-child and multi-project pipelines handle monorepos and microservices.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observations: GitHub needs explicit checkout and setup steps (provided as actions); GitLab clones the repo automatically and picks the toolchain via a Docker image. GitHub orders jobs with 'needs'; GitLab orders them via 'stages'.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AWS-focused learners: both platforms support OIDC federation, so there is no need to store long-lived AWS access keys. Create an IAM OIDC identity provider for token.actions.githubusercontent.com or gitlab.com, and an IAM role with a trust policy scoped to your repo/branch.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map when migrating between platforms. On cost: GitHub cut hosted-runner prices in Jan 2026 (Linux ~USD 0.006/min beyond free quota); a proposed per-minute fee for self-hosted runners was announced and then walked back after community pushback. GitLab paid tiers start with Premium at about USD 29/user/month. Always check current pricing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reinforcing: pick the platform for your organisation's needs, but invest in transferable skills — YAML pipelines, runners, secrets management and OIDC to AWS work the same way in both.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811530"/>
            <a:ext cx="342900" cy="3429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25880" y="640080"/>
            <a:ext cx="685800" cy="685800"/>
          </a:xfrm>
          <a:prstGeom prst="ellipse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330" y="811530"/>
            <a:ext cx="342900" cy="3429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103120" y="640080"/>
            <a:ext cx="685800" cy="68580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570" y="811530"/>
            <a:ext cx="342900" cy="3429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1645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vs GitHub vs GitLab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CF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…and GitHub Actions vs GitLab CI/CD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hosting platforms and pipeline automation — explained side by side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Sameer  |  DevOps Training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280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the version control tool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325880"/>
            <a:ext cx="548640" cy="548640"/>
          </a:xfrm>
          <a:prstGeom prst="ellipse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280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GitLab — the hosting platforms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GitHub vs GitLab — side by side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2286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468880"/>
            <a:ext cx="548640" cy="54864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 a nutshell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611880"/>
            <a:ext cx="548640" cy="548640"/>
          </a:xfrm>
          <a:prstGeom prst="ellipse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vs GitLab CI/CD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3429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611880"/>
            <a:ext cx="548640" cy="548640"/>
          </a:xfrm>
          <a:prstGeom prst="ellipse">
            <a:avLst/>
          </a:prstGeom>
          <a:solidFill>
            <a:srgbClr val="262C3A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fit + key takeaways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Git: the foundation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open-source, distributed version control system — created by Linus Torvalds in 2005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Git is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command-line tool installed on your machine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change as a snapshot (commit)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Distributed: every clone holds full history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 — no server needed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merging are cheap and fast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website, not a company, not a service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93192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DECE8"/>
          </a:solidFill>
          <a:ln w="12700">
            <a:solidFill>
              <a:srgbClr val="FDEC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931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direction: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· git fetch · git pull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 workflow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173736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2240280"/>
            <a:ext cx="0" cy="246888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89788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4871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snapshot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2990088"/>
            <a:ext cx="0" cy="246888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897880" y="2944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3236976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32369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repository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on your laptop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3739896"/>
            <a:ext cx="0" cy="246888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897880" y="36941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986784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39867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repository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GitLab / etc.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vs platform: the key distinction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engine. GitHub and GitLab are the garages built around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508760"/>
            <a:ext cx="685800" cy="685800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8770" y="16802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2677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334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175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software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machine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(GPLv2)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Commits, branches, merges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64408" y="132588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4528" y="1508760"/>
            <a:ext cx="685800" cy="685800"/>
          </a:xfrm>
          <a:prstGeom prst="ellipse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978" y="168021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264408" y="22677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264408" y="26334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493008" y="30175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for Git repos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Microsoft (2018)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Issues, Actions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open-source community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71616" y="132588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31736" y="1508760"/>
            <a:ext cx="685800" cy="68580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186" y="168021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71616" y="22677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4F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GitLab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071616" y="26334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300216" y="30175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hosting + full DevOps suite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Open-core; easy to self-host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requests, CI/CD built 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app: plan → secure → deploy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vs GitHub vs GitLab at a glance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2331720"/>
                <a:gridCol w="2331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B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VCS (software)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+ collaboration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+ complete DevOps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runs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local machine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(github.com) or Enterprise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(gitlab.com) or self-managed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Microsoft, proprietary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 Inc., open-core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(CLI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Requests (PR)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Requests (MR)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CI/CD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 CI/CD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scanning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Dependabot, CodeQL, secret scanning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SAST, DAST, dependency &amp; container scanning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mgmt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Issues, Projects, Discussions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Issues, Epics, Boards, Milestones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known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&amp; 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All-in-one DevSecOps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or GitLab? Where each one shines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097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GitHub when…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0233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130552"/>
            <a:ext cx="201168" cy="20116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work in open source or want maximum visibility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642616"/>
            <a:ext cx="201168" cy="20116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5694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a huge Marketplace of ready-made Actions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154680"/>
            <a:ext cx="201168" cy="20116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081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lives in the Microsoft / VS Code / Copilot ecosystem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666744"/>
            <a:ext cx="201168" cy="20116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593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 and community matter most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178808"/>
            <a:ext cx="201168" cy="201168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1056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prefer to assemble best-of-breed tools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1097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GitLab when…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1874520"/>
            <a:ext cx="40233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2130552"/>
            <a:ext cx="201168" cy="201168"/>
          </a:xfrm>
          <a:prstGeom prst="ellipse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one platform for plan, code, CI/CD, security &amp; deploy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92040" y="2642616"/>
            <a:ext cx="201168" cy="201168"/>
          </a:xfrm>
          <a:prstGeom prst="ellipse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25694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self-host (air-gapped, regulated, on-prem)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92040" y="3154680"/>
            <a:ext cx="201168" cy="201168"/>
          </a:xfrm>
          <a:prstGeom prst="ellipse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0" y="3081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DevSecOps scanning and compliance are priorities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92040" y="3666744"/>
            <a:ext cx="201168" cy="201168"/>
          </a:xfrm>
          <a:prstGeom prst="ellipse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3593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powerful pipelines: DAGs, parent-child, multi-project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92040" y="4178808"/>
            <a:ext cx="201168" cy="201168"/>
          </a:xfrm>
          <a:prstGeom prst="ellipse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12080" y="41056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prefer fewer integrations to maintain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31520" cy="73152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 vs GitLab CI/CD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engines, one goal: every commit built, tested and shipped automatically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in a nutshell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+ Continuous Delivery/Deployment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50392" y="1417320"/>
            <a:ext cx="777240" cy="777240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702" y="16116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code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746504" y="1810512"/>
            <a:ext cx="365760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32888" y="1417320"/>
            <a:ext cx="777240" cy="777240"/>
          </a:xfrm>
          <a:prstGeom prst="ellipse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198" y="161163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85416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185416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package, image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29000" y="1810512"/>
            <a:ext cx="365760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15384" y="1417320"/>
            <a:ext cx="777240" cy="77724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694" y="161163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67912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867912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111496" y="1810512"/>
            <a:ext cx="365760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897880" y="1417320"/>
            <a:ext cx="777240" cy="77724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190" y="161163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50408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550408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deps, secrets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793992" y="1810512"/>
            <a:ext cx="365760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0376" y="1417320"/>
            <a:ext cx="777240" cy="777240"/>
          </a:xfrm>
          <a:prstGeom prst="ellipse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4686" y="1611630"/>
            <a:ext cx="388620" cy="3886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32904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232904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production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57200" y="329184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640080" y="338328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Continuous Integration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small changes often; every push is automatically built and tested so bugs surface in minutes.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4663440" y="329184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4"/>
          <p:cNvSpPr txBox="1"/>
          <p:nvPr/>
        </p:nvSpPr>
        <p:spPr>
          <a:xfrm>
            <a:off x="4846320" y="338328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— Continuous Delivery / Deployment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always releasable, manual approval to prod. Deployment: every green build goes to prod automatically.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Actions: how it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workflows stored in .github/workflows/*.yml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594360" cy="594360"/>
          </a:xfrm>
          <a:prstGeom prst="ellipse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6116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push, pull_request, schedule, workflow_dispatch, release…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463040"/>
            <a:ext cx="594360" cy="594360"/>
          </a:xfrm>
          <a:prstGeom prst="ellipse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16116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 file; a repo can have many workflows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2423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606040"/>
            <a:ext cx="594360" cy="594360"/>
          </a:xfrm>
          <a:prstGeom prst="ellipse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27546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2532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one runner; jobs run in parallel unless 'needs' is set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2423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606040"/>
            <a:ext cx="594360" cy="594360"/>
          </a:xfrm>
          <a:prstGeom prst="ellipse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910" y="275463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2532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62356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shell command (run:) or a reusable action (uses:)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3566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3749040"/>
            <a:ext cx="594360" cy="594360"/>
          </a:xfrm>
          <a:prstGeom prst="ellipse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70" y="389763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3675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41732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unit from the Marketplace, e.g. actions/checkout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663440" y="3566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46320" y="3749040"/>
            <a:ext cx="594360" cy="594360"/>
          </a:xfrm>
          <a:prstGeom prst="ellipse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910" y="389763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623560" y="3675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562356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GitHub-hosted (Linux/Windows/macOS) or self-hosted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GitLab CI/CD: how it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pipelines defined in a single .gitlab-ci.yml at the repo root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594360" cy="59436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6116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run triggered by push, MR, schedule, API or tag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463040"/>
            <a:ext cx="594360" cy="59436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16116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phases (build → test → deploy); jobs in a stage run in parallel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2423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606040"/>
            <a:ext cx="594360" cy="59436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27546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2532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work with a script:; can use 'needs' for DAG execution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2423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606040"/>
            <a:ext cx="594360" cy="59436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910" y="275463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2532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62356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GitLab-hosted, or self-managed GitLab Runner (Docker, K8s, shell)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3566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3749040"/>
            <a:ext cx="594360" cy="59436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70" y="389763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3675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/ Components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41732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YAML templates and CI/CD Catalog components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663440" y="3566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46320" y="3749040"/>
            <a:ext cx="594360" cy="59436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910" y="389763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623560" y="3675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562356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deployments, review apps, manual &amp; protected deploys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pipeline, two dialects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a Node.js app on every push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023360" cy="3063240"/>
          </a:xfrm>
          <a:prstGeom prst="rect">
            <a:avLst/>
          </a:prstGeom>
          <a:solidFill>
            <a:srgbClr val="0F131A"/>
          </a:solidFill>
          <a:ln w="12700">
            <a:solidFill>
              <a:srgbClr val="0F1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3736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.github/workflows/ci.yml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[push]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actions/setup-node@v4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node-version: 20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ci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build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ci &amp;&amp; npm test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CI/CD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023360" cy="3063240"/>
          </a:xfrm>
          <a:prstGeom prst="rect">
            <a:avLst/>
          </a:prstGeom>
          <a:solidFill>
            <a:srgbClr val="0F131A"/>
          </a:solidFill>
          <a:ln w="12700">
            <a:solidFill>
              <a:srgbClr val="0F13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73736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.gitlab-ci.yml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stages: [build, test]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image: node:20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stage: build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script: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npm ci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stage: 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script: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npm ci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npm test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 vs GitLab CI/CD: feature by feature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 CI/CD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B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files in .github/workflows/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.gitlab-ci.yml (+ include:)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parallel by default; 'needs' for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stages; 'needs' for DAG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actions, reusable workflows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include:, templates, CI/CD Catalog 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GitHub-hosted (incl. large/ARM/GPU) or self-hosted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GitLab-hosted or self-managed GitLab Runner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 / org / environment secrets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variables (masked, protected)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auth (AWS)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OIDC → aws-actions/configure-aws-credentials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OIDC id_tokens → AssumeRoleWithWebIdentity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scans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CodeQL, Dependabot (GHAS for private)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SAST, DAST, container scans (tier-based)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 CI/CD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repo automation: issues, labels, releases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tie-in to MRs, environments, releases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 &amp; budget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map and free-tier allowances (2026)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CI/CD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947672"/>
            <a:ext cx="320040" cy="0"/>
          </a:xfrm>
          <a:prstGeom prst="line">
            <a:avLst/>
          </a:prstGeom>
          <a:noFill/>
          <a:ln w="12700">
            <a:solidFill>
              <a:srgbClr val="5B6475"/>
            </a:solidFill>
            <a:prstDash val="solid"/>
            <a:headEnd type="triangl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926080" y="1783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85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(events)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2350008"/>
            <a:ext cx="320040" cy="0"/>
          </a:xfrm>
          <a:prstGeom prst="line">
            <a:avLst/>
          </a:prstGeom>
          <a:noFill/>
          <a:ln w="12700">
            <a:solidFill>
              <a:srgbClr val="5B6475"/>
            </a:solidFill>
            <a:prstDash val="solid"/>
            <a:headEnd type="triangle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926080" y="2185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/ workflow: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jobs.&lt;id&gt;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2752344"/>
            <a:ext cx="320040" cy="0"/>
          </a:xfrm>
          <a:prstGeom prst="line">
            <a:avLst/>
          </a:prstGeom>
          <a:noFill/>
          <a:ln w="12700">
            <a:solidFill>
              <a:srgbClr val="5B6475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926080" y="25877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14600" y="3154680"/>
            <a:ext cx="320040" cy="0"/>
          </a:xfrm>
          <a:prstGeom prst="line">
            <a:avLst/>
          </a:prstGeom>
          <a:noFill/>
          <a:ln w="12700">
            <a:solidFill>
              <a:srgbClr val="5B6475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926080" y="29900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needs: / stages: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uses: action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14600" y="3557016"/>
            <a:ext cx="320040" cy="0"/>
          </a:xfrm>
          <a:prstGeom prst="line">
            <a:avLst/>
          </a:prstGeom>
          <a:noFill/>
          <a:ln w="12700">
            <a:solidFill>
              <a:srgbClr val="5B6475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926080" y="33924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include: / component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7947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secrets.*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14600" y="3959352"/>
            <a:ext cx="320040" cy="0"/>
          </a:xfrm>
          <a:prstGeom prst="line">
            <a:avLst/>
          </a:prstGeom>
          <a:noFill/>
          <a:ln w="12700">
            <a:solidFill>
              <a:srgbClr val="5B6475"/>
            </a:solidFill>
            <a:prstDash val="solid"/>
            <a:headEnd type="triangle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2926080" y="3794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CI/CD variables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1970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runs-on: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14600" y="4361688"/>
            <a:ext cx="320040" cy="0"/>
          </a:xfrm>
          <a:prstGeom prst="line">
            <a:avLst/>
          </a:prstGeom>
          <a:noFill/>
          <a:ln w="12700">
            <a:solidFill>
              <a:srgbClr val="5B6475"/>
            </a:solidFill>
            <a:prstDash val="solid"/>
            <a:headEnd type="triangle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926080" y="41970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tags: (runner)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0" y="128016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440680" y="13898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44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217627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Free: Actions minutes/month for private repos. Public repos on standard runners: free.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303520" y="306324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440680" y="31729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B4F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4400" dirty="0"/>
          </a:p>
        </p:txBody>
      </p:sp>
      <p:sp>
        <p:nvSpPr>
          <p:cNvPr id="33" name="Text 31"/>
          <p:cNvSpPr txBox="1"/>
          <p:nvPr/>
        </p:nvSpPr>
        <p:spPr>
          <a:xfrm>
            <a:off x="5440680" y="39593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Free: compute minutes/month per namespace (private projects capped at 5 users).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27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change often — verify on vendor pricing pages before quoting to customers.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94360" cy="594360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42875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2618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tool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5819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distributed version control — the common foundation for everything else.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94360" cy="594360"/>
          </a:xfrm>
          <a:prstGeom prst="ellipse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229743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13055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= community + ecosystem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4505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open source, Marketplace actions and developer experience.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017520"/>
            <a:ext cx="594360" cy="59436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316611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29992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= all-in-one DevSecOps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3192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single-platform pipelines, built-in security and self-hosting.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886200"/>
            <a:ext cx="594360" cy="59436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403479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71600" y="38679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concepts transfer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371600" y="418795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≈ pipeline, job = job, secrets ≈ variables. Learn one, map to the other.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vs GitHub vs GitLab &amp; GitHub Actions vs GitLab CI/CD</dc:title>
  <dc:subject>PptxGenJS Presentation</dc:subject>
  <dc:creator>Sameer</dc:creator>
  <cp:lastModifiedBy>Sameer</cp:lastModifiedBy>
  <cp:revision>1</cp:revision>
  <dcterms:created xsi:type="dcterms:W3CDTF">2026-10-01T02:17:25Z</dcterms:created>
  <dcterms:modified xsi:type="dcterms:W3CDTF">2026-10-01T02:17:25Z</dcterms:modified>
</cp:coreProperties>
</file>